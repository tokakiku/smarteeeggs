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0.svg" ContentType="image/svg+xml"/>
  <Override PartName="/ppt/media/image12.svg" ContentType="image/svg+xml"/>
  <Override PartName="/ppt/media/image14.svg" ContentType="image/svg+xml"/>
  <Override PartName="/ppt/media/image16.svg" ContentType="image/svg+xml"/>
  <Override PartName="/ppt/media/image18.svg" ContentType="image/svg+xml"/>
  <Override PartName="/ppt/media/image2.svg" ContentType="image/svg+xml"/>
  <Override PartName="/ppt/media/image20.svg" ContentType="image/svg+xml"/>
  <Override PartName="/ppt/media/image22.svg" ContentType="image/svg+xml"/>
  <Override PartName="/ppt/media/image24.svg" ContentType="image/svg+xml"/>
  <Override PartName="/ppt/media/image26.svg" ContentType="image/svg+xml"/>
  <Override PartName="/ppt/media/image28.svg" ContentType="image/svg+xml"/>
  <Override PartName="/ppt/media/image30.svg" ContentType="image/svg+xml"/>
  <Override PartName="/ppt/media/image32.svg" ContentType="image/svg+xml"/>
  <Override PartName="/ppt/media/image34.svg" ContentType="image/svg+xml"/>
  <Override PartName="/ppt/media/image36.svg" ContentType="image/svg+xml"/>
  <Override PartName="/ppt/media/image38.svg" ContentType="image/svg+xml"/>
  <Override PartName="/ppt/media/image4.svg" ContentType="image/svg+xml"/>
  <Override PartName="/ppt/media/image40.svg" ContentType="image/svg+xml"/>
  <Override PartName="/ppt/media/image42.svg" ContentType="image/svg+xml"/>
  <Override PartName="/ppt/media/image44.svg" ContentType="image/svg+xml"/>
  <Override PartName="/ppt/media/image46.svg" ContentType="image/svg+xml"/>
  <Override PartName="/ppt/media/image48.svg" ContentType="image/svg+xml"/>
  <Override PartName="/ppt/media/image50.svg" ContentType="image/svg+xml"/>
  <Override PartName="/ppt/media/image52.svg" ContentType="image/svg+xml"/>
  <Override PartName="/ppt/media/image54.svg" ContentType="image/svg+xml"/>
  <Override PartName="/ppt/media/image56.svg" ContentType="image/svg+xml"/>
  <Override PartName="/ppt/media/image6.svg" ContentType="image/svg+xml"/>
  <Override PartName="/ppt/media/image8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  <p:sldMasterId id="2147483660" r:id="rId3"/>
  </p:sldMasterIdLst>
  <p:notesMasterIdLst>
    <p:notesMasterId r:id="rId5"/>
  </p:notesMasterIdLst>
  <p:sldIdLst>
    <p:sldId id="256" r:id="rId4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showComments="0">
  <p:normalViewPr>
    <p:restoredLeft sz="15620"/>
    <p:restoredTop sz="94660"/>
  </p:normalViewPr>
  <p:slideViewPr>
    <p:cSldViewPr snapToGrid="0" showGuides="1">
      <p:cViewPr varScale="1">
        <p:scale>
          <a:sx n="100" d="100"/>
          <a:sy n="100" d="100"/>
        </p:scale>
        <p:origin x="0" y="0"/>
      </p:cViewPr>
      <p:guideLst>
        <p:guide orient="horz" pos="1620"/>
        <p:guide pos="2880"/>
      </p:guideLst>
    </p:cSldViewPr>
  </p:slide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5.xml"/><Relationship Id="rId8" Type="http://schemas.openxmlformats.org/officeDocument/2006/relationships/slide" Target="slides/slide4.xml"/><Relationship Id="rId7" Type="http://schemas.openxmlformats.org/officeDocument/2006/relationships/slide" Target="slides/slide3.xml"/><Relationship Id="rId6" Type="http://schemas.openxmlformats.org/officeDocument/2006/relationships/slide" Target="slides/slide2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3" Type="http://schemas.openxmlformats.org/officeDocument/2006/relationships/slideMaster" Target="slideMasters/slideMaster2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0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</a:fld>
            <a:endParaRPr lang="cs-CZ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大家好，我们团队带来的项目是“课伴——多模态AI互动式教学智能体”，这是一个针对第十七届服创大赛A类锐捷网络命题的参赛作品。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我们的核心目标，正如大家看到的这句Slogan所说：“让老师告别课件排版工，回归教学设计师本心”。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接下来，我将从项目缘起、痛点分析、解决方案、技术实现和创新亮点等方面，向各位老师详细汇报我们的项目。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项目的缘起，源于一个真实的场景。作为学生干部，我们经常协助老师处理教学相关的事务。有一次，我们亲眼看到一位经验丰富的老师，为了一节45分钟的公开课，连续熬了好几个通宵。他大部分时间都花在了课件排版、素材搜集这些繁琐的事情上，真正用来思考教学内容和互动设计的时间却很少。这件事让我们深受触动，也让我们萌生了一个想法：能不能用技术为老师减负？我们希望打造一个真正懂教学、能陪伴老师备课的AI伙伴，这就是我们项目的初心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基于这个初心，我们深入调研了当前教育AI工具的现状，发现了三个普遍存在的核心痛点。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首先是“工具碎片化”，老师备课需要在多个软件间来回切换，效率非常低。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其次是“理解浅层化”，现有AI工具只能执行简单指令，无法理解老师复杂的教学思路，修改起来非常困难。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最后是“价值错位”，老师本该是教学的设计师，却被大量琐事缠身，无法专注于教学本身。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这三个痛点，正是我们项目要着力解决的问题。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针对这些痛点，我们明确了项目的定位。简单来说，我们要做的不是一个简单的PPT生成工具，而是一个“懂教学的引导式多模态AI教学智能体”。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我们的核心目标是围绕教师的教学思路，打造一个从对话共创到最终导出的完整备课闭环。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与市面上的通用工具不同，我们的智能体能够主动理解教学意图，提供专业的教学设计建议，成为老师的专属备课伙伴。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是我们产品的核心业务流程，它完整覆盖了教师备课的每一个环节。从老师输入课程需求开始，系统首先会解析意图并生成结构化的教学大纲，老师可以通过多轮对话进行修改。接着，老师可以上传各种参考资料，系统会将其深度融合进大纲。之后，系统会生成完整的教案和配套的PPT课件，甚至包括动画和小游戏。最后，老师可以对生成的内容进行细粒度的迭代修改，直到满意为止。整个流程形成了一个完整的闭环，精准解决了之前提到的所有痛点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为了支撑这样的业务流程，我们设计了一套工程化的技术架构。整个架构采用Go语言开发，遵循分层设计原则，做到了高内聚低耦合。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从前端的Web客户端，到后端的控制器层、服务层，再到底层的数据存储和AI模型调用，每一层都有明确的职责。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这套架构不仅完全满足赛题的技术要求，还支持全栈私有化部署，可以无缝对接锐捷的云课堂系统，具有很强的实用性和扩展性。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我们的项目之所以有信心冲击国奖，源于我们在四个方面的核心创新突破。首先是模式创新，我们不再是被动的工具，而是主动的教学伙伴，内置了专业的教学设计框架，能引导老师完成高质量的教学设计。其次是技术创新，我们构建了一套教学专属的AI能力体系，从意图理解到多模态融合，再到结构化知识库，每一环都有我们自己的技术积累，而不是简单地堆砌开源API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第三，在体验创新上，我们实现了真正的闭环共创。老师可以对生成的课件进行细粒度的修改，系统能精准定位并更新，而不是全量重生成，这解决了当前AI工具“改不动”的痛点。</a:t>
            </a:r>
            <a:endParaRPr lang="en-US" sz="1400" b="0" i="0" u="none" strike="noStrike">
              <a:solidFill>
                <a:srgbClr val="000000"/>
              </a:solidFill>
            </a:endParaRPr>
          </a:p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最后是落地创新，我们的架构是模块化、可私有化部署的，可以无缝嵌入锐捷的现有业务体系，完全符合教育行业对数据安全的要求，这也是我们项目区别于其他参赛队伍的重要优势。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为了确保项目顺利推进，我们制定了清晰的分阶段执行规划。第一阶段，我们将用一个月时间完成需求分析、技术选型和核心功能的最小闭环。第二阶段，用两个月时间完成全流程功能开发和与锐捷云课堂的对接，形成完整的产品原型。最后一个月，我们将进行全面的测试和优化，并准备赛事材料。我们有信心按照这个计划，高质量地完成项目。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>
              <a:rPr lang="cs-CZ" smtClean="0"/>
              <a:t>1.7.2013</a:t>
            </a:r>
            <a:endParaRPr lang="cs-CZ" smtClean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400" b="0" i="0" u="none" strike="noStrike"/>
            </a:lvl1pPr>
          </a:lstStyle>
          <a:p>
            <a:pPr indent="0" algn="l">
              <a:lnSpc>
                <a:spcPct val="100000"/>
              </a:lnSpc>
            </a:pPr>
            <a:r>
              <a:rPr lang="en-US" sz="1400" b="0" i="0" u="none" strike="noStrike">
                <a:solidFill>
                  <a:srgbClr val="000000"/>
                </a:solidFill>
              </a:rPr>
              <a:t>最后，我们的项目不仅仅是一个技术产品，更是我们作为学生对教育数字化的一份回应。我们希望用技术为老师减负，让教育回归它最本真的样子。在此，我们衷心感谢指导老师的悉心指导，也感谢锐捷网络提供的这个宝贵的命题机会。我们相信，通过我们的努力，能够为教育事业贡献一份青年的力量。我的汇报到此结束，谢谢大家！</a:t>
            </a:r>
            <a:endParaRPr lang="en-US" sz="1400" b="0" i="0" u="none" strike="noStrike">
              <a:solidFill>
                <a:srgbClr val="000000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>
              <a:rPr lang="cs-CZ" smtClean="0"/>
              <a:t>‹#›</a:t>
            </a:r>
            <a:endParaRPr lang="cs-CZ" smtClean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matchingName="标题幻灯片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Shape 30"/>
          <p:cNvSpPr txBox="1"/>
          <p:nvPr>
            <p:ph type="ctrTitle"/>
          </p:nvPr>
        </p:nvSpPr>
        <p:spPr>
          <a:xfrm>
            <a:off x="1143000" y="841772"/>
            <a:ext cx="6858000" cy="1790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3" name="Shape 31"/>
          <p:cNvSpPr txBox="1"/>
          <p:nvPr>
            <p:ph type="subTitle" idx="1"/>
          </p:nvPr>
        </p:nvSpPr>
        <p:spPr>
          <a:xfrm>
            <a:off x="1143000" y="2701528"/>
            <a:ext cx="6858000" cy="1241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lvl="0" algn="ctr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3pPr>
            <a:lvl4pPr lvl="3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algn="ctr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14" name="Shape 3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5" name="Shape 3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6" name="Shape 3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matchingName="标题和内容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hape 54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19" name="Shape 55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20" name="Shape 5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1" name="Shape 5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2" name="Shape 5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matchingName="节标题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59"/>
          <p:cNvSpPr txBox="1"/>
          <p:nvPr>
            <p:ph type="title"/>
          </p:nvPr>
        </p:nvSpPr>
        <p:spPr>
          <a:xfrm>
            <a:off x="623888" y="1282304"/>
            <a:ext cx="7886700" cy="213955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Arial" panose="020B0604020202020204"/>
              <a:buNone/>
              <a:defRPr sz="45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5" name="Shape 60"/>
          <p:cNvSpPr txBox="1"/>
          <p:nvPr>
            <p:ph type="body" idx="1"/>
          </p:nvPr>
        </p:nvSpPr>
        <p:spPr>
          <a:xfrm>
            <a:off x="623888" y="3442097"/>
            <a:ext cx="7886700" cy="11251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Shape 6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7" name="Shape 6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28" name="Shape 6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matchingName="两栏内容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Shape 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1" name="Shape 10"/>
          <p:cNvSpPr txBox="1"/>
          <p:nvPr>
            <p:ph type="body" idx="1"/>
          </p:nvPr>
        </p:nvSpPr>
        <p:spPr>
          <a:xfrm>
            <a:off x="6286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2" name="Shape 11"/>
          <p:cNvSpPr txBox="1"/>
          <p:nvPr>
            <p:ph type="body" idx="2"/>
          </p:nvPr>
        </p:nvSpPr>
        <p:spPr>
          <a:xfrm>
            <a:off x="4629150" y="1369219"/>
            <a:ext cx="38862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33" name="Shape 12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4" name="Shape 13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5" name="Shape 14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matchingName="比较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Shape 35"/>
          <p:cNvSpPr txBox="1"/>
          <p:nvPr>
            <p:ph type="title"/>
          </p:nvPr>
        </p:nvSpPr>
        <p:spPr>
          <a:xfrm>
            <a:off x="629841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38" name="Shape 36"/>
          <p:cNvSpPr txBox="1"/>
          <p:nvPr>
            <p:ph type="body" idx="1"/>
          </p:nvPr>
        </p:nvSpPr>
        <p:spPr>
          <a:xfrm>
            <a:off x="629841" y="1260872"/>
            <a:ext cx="3868340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39" name="Shape 37"/>
          <p:cNvSpPr txBox="1"/>
          <p:nvPr>
            <p:ph type="body" idx="2"/>
          </p:nvPr>
        </p:nvSpPr>
        <p:spPr>
          <a:xfrm>
            <a:off x="629841" y="1878806"/>
            <a:ext cx="3868340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0" name="Shape 38"/>
          <p:cNvSpPr txBox="1"/>
          <p:nvPr>
            <p:ph type="body" idx="3"/>
          </p:nvPr>
        </p:nvSpPr>
        <p:spPr>
          <a:xfrm>
            <a:off x="4629150" y="1260872"/>
            <a:ext cx="3887391" cy="61793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 b="1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 b="1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 b="1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 b="1"/>
            </a:lvl9pPr>
          </a:lstStyle>
          <a:p/>
        </p:txBody>
      </p:sp>
      <p:sp>
        <p:nvSpPr>
          <p:cNvPr id="41" name="Shape 39"/>
          <p:cNvSpPr txBox="1"/>
          <p:nvPr>
            <p:ph type="body" idx="4"/>
          </p:nvPr>
        </p:nvSpPr>
        <p:spPr>
          <a:xfrm>
            <a:off x="4629150" y="1878806"/>
            <a:ext cx="3887391" cy="276344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42" name="Shape 40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3" name="Shape 41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4" name="Shape 42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matchingName="仅标题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Shape 20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7" name="Shape 2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8" name="Shape 2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49" name="Shape 2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matchingName="空白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Shape 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2" name="Shape 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3" name="Shape 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matchingName="内容与标题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Shape 43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6" name="Shape 44"/>
          <p:cNvSpPr txBox="1"/>
          <p:nvPr>
            <p:ph type="body" idx="1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810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marL="914400" lvl="1" indent="-3619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marL="1371600" lvl="2" indent="-3429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marL="1828800" lvl="3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marL="2286000" lvl="4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marL="2743200" lvl="5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marL="3200400" lvl="6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marL="3657600" lvl="7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marL="4114800" lvl="8" indent="-32385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Shape 45"/>
          <p:cNvSpPr txBox="1"/>
          <p:nvPr>
            <p:ph type="body" idx="2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58" name="Shape 46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59" name="Shape 47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0" name="Shape 48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matchingName="图片与标题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Shape 24"/>
          <p:cNvSpPr txBox="1"/>
          <p:nvPr>
            <p:ph type="title"/>
          </p:nvPr>
        </p:nvSpPr>
        <p:spPr>
          <a:xfrm>
            <a:off x="629841" y="342900"/>
            <a:ext cx="2949178" cy="12001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b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 panose="020B0604020202020204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3" name="Shape 25"/>
          <p:cNvSpPr/>
          <p:nvPr>
            <p:ph type="pic" idx="2"/>
          </p:nvPr>
        </p:nvSpPr>
        <p:spPr>
          <a:xfrm>
            <a:off x="3887391" y="740569"/>
            <a:ext cx="4629150" cy="3655219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Shape 26"/>
          <p:cNvSpPr txBox="1"/>
          <p:nvPr>
            <p:ph type="body" idx="1"/>
          </p:nvPr>
        </p:nvSpPr>
        <p:spPr>
          <a:xfrm>
            <a:off x="629841" y="1543050"/>
            <a:ext cx="2949178" cy="28586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2286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marL="914400" lvl="1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100"/>
              <a:buNone/>
              <a:defRPr sz="1100"/>
            </a:lvl2pPr>
            <a:lvl3pPr marL="1371600" lvl="2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marL="1828800" lvl="3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4pPr>
            <a:lvl5pPr marL="2286000" lvl="4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5pPr>
            <a:lvl6pPr marL="2743200" lvl="5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6pPr>
            <a:lvl7pPr marL="3200400" lvl="6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7pPr>
            <a:lvl8pPr marL="3657600" lvl="7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8pPr>
            <a:lvl9pPr marL="4114800" lvl="8" indent="-2286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800"/>
              <a:buNone/>
              <a:defRPr sz="800"/>
            </a:lvl9pPr>
          </a:lstStyle>
          <a:p/>
        </p:txBody>
      </p:sp>
      <p:sp>
        <p:nvSpPr>
          <p:cNvPr id="65" name="Shape 2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6" name="Shape 2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67" name="Shape 2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matchingName="标题和竖排文字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Shape 49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0" name="Shape 50"/>
          <p:cNvSpPr txBox="1"/>
          <p:nvPr>
            <p:ph type="body" idx="1"/>
          </p:nvPr>
        </p:nvSpPr>
        <p:spPr>
          <a:xfrm rot="5400000">
            <a:off x="2940248" y="-942379"/>
            <a:ext cx="3263504" cy="788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1" name="Shape 51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2" name="Shape 52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3" name="Shape 53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matchingName="竖排标题与文本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Shape 15"/>
          <p:cNvSpPr txBox="1"/>
          <p:nvPr>
            <p:ph type="title"/>
          </p:nvPr>
        </p:nvSpPr>
        <p:spPr>
          <a:xfrm rot="5400000">
            <a:off x="5350073" y="1467445"/>
            <a:ext cx="4358879" cy="19716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6" name="Shape 16"/>
          <p:cNvSpPr txBox="1"/>
          <p:nvPr>
            <p:ph type="body" idx="1"/>
          </p:nvPr>
        </p:nvSpPr>
        <p:spPr>
          <a:xfrm rot="5400000">
            <a:off x="1349573" y="-447080"/>
            <a:ext cx="4358879" cy="580072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lvl="0" indent="-317500" algn="l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1pPr>
            <a:lvl2pPr marL="914400" lvl="1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2pPr>
            <a:lvl3pPr marL="1371600" lvl="2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3pPr>
            <a:lvl4pPr marL="1828800" lvl="3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4pPr>
            <a:lvl5pPr marL="2286000" lvl="4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5pPr>
            <a:lvl6pPr marL="2743200" lvl="5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6pPr>
            <a:lvl7pPr marL="3200400" lvl="6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7pPr>
            <a:lvl8pPr marL="3657600" lvl="7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8pPr>
            <a:lvl9pPr marL="4114800" lvl="8" indent="-317500" algn="l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Char char="•"/>
              <a:defRPr/>
            </a:lvl9pPr>
          </a:lstStyle>
          <a:p/>
        </p:txBody>
      </p:sp>
      <p:sp>
        <p:nvSpPr>
          <p:cNvPr id="77" name="Shape 17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8" name="Shape 18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100"/>
              <a:buNone/>
              <a:defRPr/>
            </a:lvl9pPr>
          </a:lstStyle>
          <a:p/>
        </p:txBody>
      </p:sp>
      <p:sp>
        <p:nvSpPr>
          <p:cNvPr id="79" name="Shape 19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lvl="0" indent="0" algn="r">
              <a:spcBef>
                <a:spcPts val="0"/>
              </a:spcBef>
              <a:buNone/>
              <a:defRPr/>
            </a:lvl1pPr>
            <a:lvl2pPr marL="0" lvl="1" indent="0" algn="r">
              <a:spcBef>
                <a:spcPts val="0"/>
              </a:spcBef>
              <a:buNone/>
              <a:defRPr/>
            </a:lvl2pPr>
            <a:lvl3pPr marL="0" lvl="2" indent="0" algn="r">
              <a:spcBef>
                <a:spcPts val="0"/>
              </a:spcBef>
              <a:buNone/>
              <a:defRPr/>
            </a:lvl3pPr>
            <a:lvl4pPr marL="0" lvl="3" indent="0" algn="r">
              <a:spcBef>
                <a:spcPts val="0"/>
              </a:spcBef>
              <a:buNone/>
              <a:defRPr/>
            </a:lvl4pPr>
            <a:lvl5pPr marL="0" lvl="4" indent="0" algn="r">
              <a:spcBef>
                <a:spcPts val="0"/>
              </a:spcBef>
              <a:buNone/>
              <a:defRPr/>
            </a:lvl5pPr>
            <a:lvl6pPr marL="0" lvl="5" indent="0" algn="r">
              <a:spcBef>
                <a:spcPts val="0"/>
              </a:spcBef>
              <a:buNone/>
              <a:defRPr/>
            </a:lvl6pPr>
            <a:lvl7pPr marL="0" lvl="6" indent="0" algn="r">
              <a:spcBef>
                <a:spcPts val="0"/>
              </a:spcBef>
              <a:buNone/>
              <a:defRPr/>
            </a:lvl7pPr>
            <a:lvl8pPr marL="0" lvl="7" indent="0" algn="r">
              <a:spcBef>
                <a:spcPts val="0"/>
              </a:spcBef>
              <a:buNone/>
              <a:defRPr/>
            </a:lvl8pPr>
            <a:lvl9pPr marL="0" lvl="8" indent="0" algn="r">
              <a:spcBef>
                <a:spcPts val="0"/>
              </a:spcBef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2" Type="http://schemas.openxmlformats.org/officeDocument/2006/relationships/theme" Target="../theme/theme2.xml"/><Relationship Id="rId1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hape 1"/>
          <p:cNvSpPr txBox="1"/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rmAutofit/>
          </a:bodyPr>
          <a:lstStyle>
            <a:lvl1pPr marR="0" lvl="0" algn="l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rial" panose="020B0604020202020204"/>
              <a:buNone/>
              <a:defRPr sz="33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2pPr>
            <a:lvl3pPr lvl="2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3pPr>
            <a:lvl4pPr lvl="3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4pPr>
            <a:lvl5pPr lvl="4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5pPr>
            <a:lvl6pPr lvl="5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6pPr>
            <a:lvl7pPr lvl="6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7pPr>
            <a:lvl8pPr lvl="7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8pPr>
            <a:lvl9pPr lvl="8">
              <a:spcBef>
                <a:spcPts val="0"/>
              </a:spcBef>
              <a:spcAft>
                <a:spcPts val="0"/>
              </a:spcAft>
              <a:buSzPts val="1100"/>
              <a:buNone/>
              <a:defRPr sz="1400"/>
            </a:lvl9pPr>
          </a:lstStyle>
          <a:p/>
        </p:txBody>
      </p:sp>
      <p:sp>
        <p:nvSpPr>
          <p:cNvPr id="7" name="Shape 2"/>
          <p:cNvSpPr txBox="1"/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t" anchorCtr="0">
            <a:normAutofit/>
          </a:bodyPr>
          <a:lstStyle>
            <a:lvl1pPr marL="457200" marR="0" lvl="0" indent="-361950" algn="l" rtl="0">
              <a:lnSpc>
                <a:spcPct val="90000"/>
              </a:lnSpc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 panose="020B0604020202020204"/>
              <a:buChar char="•"/>
              <a:defRPr sz="21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914400" marR="0" lvl="1" indent="-3429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 panose="020B0604020202020204"/>
              <a:buChar char="•"/>
              <a:defRPr sz="18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1371600" marR="0" lvl="2" indent="-32385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 panose="020B0604020202020204"/>
              <a:buChar char="•"/>
              <a:defRPr sz="15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1828800" marR="0" lvl="3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2286000" marR="0" lvl="4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2743200" marR="0" lvl="5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3200400" marR="0" lvl="6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3657600" marR="0" lvl="7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4114800" marR="0" lvl="8" indent="-317500" algn="l" rtl="0">
              <a:lnSpc>
                <a:spcPct val="90000"/>
              </a:lnSpc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 panose="020B0604020202020204"/>
              <a:buChar char="•"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8" name="Shape 3"/>
          <p:cNvSpPr txBox="1"/>
          <p:nvPr>
            <p:ph type="dt" idx="10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9" name="Shape 4"/>
          <p:cNvSpPr txBox="1"/>
          <p:nvPr>
            <p:ph type="ftr" idx="11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100"/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100"/>
              <a:buNone/>
              <a:defRPr sz="1400" b="0" i="0" u="none" strike="noStrike" cap="none">
                <a:solidFill>
                  <a:schemeClr val="dk1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/>
        </p:txBody>
      </p:sp>
      <p:sp>
        <p:nvSpPr>
          <p:cNvPr id="10" name="Shape 5"/>
          <p:cNvSpPr txBox="1"/>
          <p:nvPr>
            <p:ph type="sldNum" idx="12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68575" tIns="34275" rIns="68575" bIns="34275" anchor="ctr" anchorCtr="0">
            <a:noAutofit/>
          </a:bodyPr>
          <a:lstStyle>
            <a:lvl1pPr marL="0" marR="0" lvl="0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1pPr>
            <a:lvl2pPr marL="0" marR="0" lvl="1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2pPr>
            <a:lvl3pPr marL="0" marR="0" lvl="2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3pPr>
            <a:lvl4pPr marL="0" marR="0" lvl="3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4pPr>
            <a:lvl5pPr marL="0" marR="0" lvl="4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5pPr>
            <a:lvl6pPr marL="0" marR="0" lvl="5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6pPr>
            <a:lvl7pPr marL="0" marR="0" lvl="6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7pPr>
            <a:lvl8pPr marL="0" marR="0" lvl="7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8pPr>
            <a:lvl9pPr marL="0" marR="0" lvl="8" indent="0" algn="r" rtl="0">
              <a:spcBef>
                <a:spcPts val="0"/>
              </a:spcBef>
              <a:buNone/>
              <a:defRPr sz="900" b="0" i="0" u="none" strike="noStrike" cap="none">
                <a:solidFill>
                  <a:srgbClr val="888888"/>
                </a:solidFill>
                <a:latin typeface="Arial" panose="020B0604020202020204"/>
                <a:ea typeface="Arial" panose="020B0604020202020204"/>
                <a:cs typeface="Arial" panose="020B0604020202020204"/>
                <a:sym typeface="Arial" panose="020B0604020202020204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zh-CN"/>
            </a:fld>
            <a:endParaRPr lang="zh-CN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>
            <a:alpha val="100000"/>
          </a:srgbClr>
        </a:solidFill>
        <a:effectLst/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61" r:id="rId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1.xml"/><Relationship Id="rId3" Type="http://schemas.openxmlformats.org/officeDocument/2006/relationships/slideLayout" Target="../slideLayouts/slideLayout12.xml"/><Relationship Id="rId2" Type="http://schemas.openxmlformats.org/officeDocument/2006/relationships/image" Target="../media/image2.sv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2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3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6.svg"/><Relationship Id="rId3" Type="http://schemas.openxmlformats.org/officeDocument/2006/relationships/image" Target="../media/image5.png"/><Relationship Id="rId2" Type="http://schemas.openxmlformats.org/officeDocument/2006/relationships/image" Target="../media/image10.svg"/><Relationship Id="rId1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12.xml"/><Relationship Id="rId8" Type="http://schemas.openxmlformats.org/officeDocument/2006/relationships/image" Target="../media/image18.svg"/><Relationship Id="rId7" Type="http://schemas.openxmlformats.org/officeDocument/2006/relationships/image" Target="../media/image17.png"/><Relationship Id="rId6" Type="http://schemas.openxmlformats.org/officeDocument/2006/relationships/image" Target="../media/image16.svg"/><Relationship Id="rId5" Type="http://schemas.openxmlformats.org/officeDocument/2006/relationships/image" Target="../media/image15.png"/><Relationship Id="rId4" Type="http://schemas.openxmlformats.org/officeDocument/2006/relationships/image" Target="../media/image14.svg"/><Relationship Id="rId3" Type="http://schemas.openxmlformats.org/officeDocument/2006/relationships/image" Target="../media/image13.png"/><Relationship Id="rId2" Type="http://schemas.openxmlformats.org/officeDocument/2006/relationships/image" Target="../media/image2.svg"/><Relationship Id="rId10" Type="http://schemas.openxmlformats.org/officeDocument/2006/relationships/notesSlide" Target="../notesSlides/notesSlide4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9" Type="http://schemas.openxmlformats.org/officeDocument/2006/relationships/image" Target="../media/image27.png"/><Relationship Id="rId8" Type="http://schemas.openxmlformats.org/officeDocument/2006/relationships/image" Target="../media/image26.svg"/><Relationship Id="rId7" Type="http://schemas.openxmlformats.org/officeDocument/2006/relationships/image" Target="../media/image25.png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Relationship Id="rId3" Type="http://schemas.openxmlformats.org/officeDocument/2006/relationships/image" Target="../media/image21.png"/><Relationship Id="rId2" Type="http://schemas.openxmlformats.org/officeDocument/2006/relationships/image" Target="../media/image20.svg"/><Relationship Id="rId12" Type="http://schemas.openxmlformats.org/officeDocument/2006/relationships/notesSlide" Target="../notesSlides/notesSlide5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28.svg"/><Relationship Id="rId1" Type="http://schemas.openxmlformats.org/officeDocument/2006/relationships/image" Target="../media/image19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image" Target="../media/image37.png"/><Relationship Id="rId8" Type="http://schemas.openxmlformats.org/officeDocument/2006/relationships/image" Target="../media/image36.svg"/><Relationship Id="rId7" Type="http://schemas.openxmlformats.org/officeDocument/2006/relationships/image" Target="../media/image35.png"/><Relationship Id="rId6" Type="http://schemas.openxmlformats.org/officeDocument/2006/relationships/image" Target="../media/image34.svg"/><Relationship Id="rId5" Type="http://schemas.openxmlformats.org/officeDocument/2006/relationships/image" Target="../media/image33.png"/><Relationship Id="rId4" Type="http://schemas.openxmlformats.org/officeDocument/2006/relationships/image" Target="../media/image32.svg"/><Relationship Id="rId3" Type="http://schemas.openxmlformats.org/officeDocument/2006/relationships/image" Target="../media/image31.png"/><Relationship Id="rId2" Type="http://schemas.openxmlformats.org/officeDocument/2006/relationships/image" Target="../media/image30.svg"/><Relationship Id="rId12" Type="http://schemas.openxmlformats.org/officeDocument/2006/relationships/notesSlide" Target="../notesSlides/notesSlide6.xml"/><Relationship Id="rId11" Type="http://schemas.openxmlformats.org/officeDocument/2006/relationships/slideLayout" Target="../slideLayouts/slideLayout12.xml"/><Relationship Id="rId10" Type="http://schemas.openxmlformats.org/officeDocument/2006/relationships/image" Target="../media/image38.svg"/><Relationship Id="rId1" Type="http://schemas.openxmlformats.org/officeDocument/2006/relationships/image" Target="../media/image29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7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2.svg"/><Relationship Id="rId3" Type="http://schemas.openxmlformats.org/officeDocument/2006/relationships/image" Target="../media/image41.png"/><Relationship Id="rId2" Type="http://schemas.openxmlformats.org/officeDocument/2006/relationships/image" Target="../media/image40.svg"/><Relationship Id="rId1" Type="http://schemas.openxmlformats.org/officeDocument/2006/relationships/image" Target="../media/image39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8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44.svg"/><Relationship Id="rId5" Type="http://schemas.openxmlformats.org/officeDocument/2006/relationships/image" Target="../media/image43.png"/><Relationship Id="rId4" Type="http://schemas.openxmlformats.org/officeDocument/2006/relationships/image" Target="../media/image48.svg"/><Relationship Id="rId3" Type="http://schemas.openxmlformats.org/officeDocument/2006/relationships/image" Target="../media/image47.png"/><Relationship Id="rId2" Type="http://schemas.openxmlformats.org/officeDocument/2006/relationships/image" Target="../media/image46.svg"/><Relationship Id="rId1" Type="http://schemas.openxmlformats.org/officeDocument/2006/relationships/image" Target="../media/image45.pn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notesSlide" Target="../notesSlides/notesSlide9.xml"/><Relationship Id="rId7" Type="http://schemas.openxmlformats.org/officeDocument/2006/relationships/slideLayout" Target="../slideLayouts/slideLayout12.xml"/><Relationship Id="rId6" Type="http://schemas.openxmlformats.org/officeDocument/2006/relationships/image" Target="../media/image52.svg"/><Relationship Id="rId5" Type="http://schemas.openxmlformats.org/officeDocument/2006/relationships/image" Target="../media/image51.png"/><Relationship Id="rId4" Type="http://schemas.openxmlformats.org/officeDocument/2006/relationships/image" Target="../media/image30.svg"/><Relationship Id="rId3" Type="http://schemas.openxmlformats.org/officeDocument/2006/relationships/image" Target="../media/image29.png"/><Relationship Id="rId2" Type="http://schemas.openxmlformats.org/officeDocument/2006/relationships/image" Target="../media/image50.svg"/><Relationship Id="rId1" Type="http://schemas.openxmlformats.org/officeDocument/2006/relationships/image" Target="../media/image49.png"/></Relationships>
</file>

<file path=ppt/slides/_rels/slide10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0.xml"/><Relationship Id="rId5" Type="http://schemas.openxmlformats.org/officeDocument/2006/relationships/slideLayout" Target="../slideLayouts/slideLayout12.xml"/><Relationship Id="rId4" Type="http://schemas.openxmlformats.org/officeDocument/2006/relationships/image" Target="../media/image56.svg"/><Relationship Id="rId3" Type="http://schemas.openxmlformats.org/officeDocument/2006/relationships/image" Target="../media/image55.png"/><Relationship Id="rId2" Type="http://schemas.openxmlformats.org/officeDocument/2006/relationships/image" Target="../media/image54.svg"/><Relationship Id="rId1" Type="http://schemas.openxmlformats.org/officeDocument/2006/relationships/image" Target="../media/image5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-1270000" y="-1270000"/>
            <a:ext cx="3810000" cy="3810000"/>
          </a:xfrm>
          <a:prstGeom prst="ellipse">
            <a:avLst/>
          </a:prstGeom>
          <a:solidFill>
            <a:srgbClr val="0052CC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3" name="AutoShape 3"/>
          <p:cNvSpPr/>
          <p:nvPr/>
        </p:nvSpPr>
        <p:spPr>
          <a:xfrm>
            <a:off x="8890000" y="3810000"/>
            <a:ext cx="5080000" cy="5080000"/>
          </a:xfrm>
          <a:prstGeom prst="ellipse">
            <a:avLst/>
          </a:prstGeom>
          <a:solidFill>
            <a:srgbClr val="FF7F00">
              <a:alpha val="5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5588000" y="635000"/>
            <a:ext cx="1016000" cy="1016000"/>
          </a:xfrm>
          <a:prstGeom prst="ellipse">
            <a:avLst/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2700000" algn="tl" rotWithShape="0">
              <a:srgbClr val="0052CC">
                <a:alpha val="1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5791200" y="838200"/>
            <a:ext cx="609600" cy="6096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635000" y="1778000"/>
            <a:ext cx="1092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课伴——多模态AI互动式教学智能体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635000" y="2413000"/>
            <a:ext cx="10922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第十七届服创大赛A类锐捷网络命题</a:t>
            </a:r>
            <a:endParaRPr lang="en-US" sz="1100"/>
          </a:p>
        </p:txBody>
      </p:sp>
      <p:cxnSp>
        <p:nvCxnSpPr>
          <p:cNvPr id="8" name="Connector 8"/>
          <p:cNvCxnSpPr/>
          <p:nvPr/>
        </p:nvCxnSpPr>
        <p:spPr>
          <a:xfrm rot="-8594">
            <a:off x="3556008" y="2978150"/>
            <a:ext cx="5080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DCDCDC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" name="AutoShape 9"/>
          <p:cNvSpPr/>
          <p:nvPr/>
        </p:nvSpPr>
        <p:spPr>
          <a:xfrm>
            <a:off x="1270000" y="3238500"/>
            <a:ext cx="9652000" cy="762000"/>
          </a:xfrm>
          <a:prstGeom prst="roundRect">
            <a:avLst>
              <a:gd name="adj" fmla="val 16666"/>
            </a:avLst>
          </a:prstGeom>
          <a:solidFill>
            <a:srgbClr val="FF7F00">
              <a:alpha val="8000"/>
            </a:srgbClr>
          </a:solidFill>
          <a:ln w="12700" cap="flat" cmpd="sng">
            <a:solidFill>
              <a:srgbClr val="FF7F00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1397000" y="3365500"/>
            <a:ext cx="939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让老师告别课件排版工，回归教学设计师本心 ”</a:t>
            </a:r>
            <a:endParaRPr lang="en-US" sz="11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90551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项目缘起：一堂课背后的深夜备课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81200"/>
            <a:ext cx="609600" cy="6096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0828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28800" y="1981200"/>
            <a:ext cx="3759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真实场景：低效的备课困境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066800" y="2667000"/>
            <a:ext cx="4470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一位12年教龄的资深老师，为准备45分钟的公开课，连续熬了3个通宵。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令人惋惜的是，他</a:t>
            </a:r>
            <a:r>
              <a:rPr lang="en-US" sz="16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80%的精力</a:t>
            </a:r>
            <a:r>
              <a:rPr lang="en-US" sz="16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都耗费在排版、搜集素材等琐事上，真正用于打磨教学逻辑和互动设计的时间所剩无几。</a:t>
            </a:r>
            <a:endParaRPr lang="en-US" sz="1600" b="0" i="0" u="none" strike="noStrike">
              <a:solidFill>
                <a:srgbClr val="555B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9" name="AutoShape 9"/>
          <p:cNvSpPr/>
          <p:nvPr/>
        </p:nvSpPr>
        <p:spPr>
          <a:xfrm>
            <a:off x="6350000" y="1651000"/>
            <a:ext cx="5080000" cy="3302000"/>
          </a:xfrm>
          <a:prstGeom prst="roundRect">
            <a:avLst>
              <a:gd name="adj" fmla="val 384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0" name="AutoShape 10"/>
          <p:cNvSpPr/>
          <p:nvPr/>
        </p:nvSpPr>
        <p:spPr>
          <a:xfrm>
            <a:off x="6350000" y="1651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654800" y="1981200"/>
            <a:ext cx="609600" cy="609600"/>
          </a:xfrm>
          <a:prstGeom prst="ellipse">
            <a:avLst/>
          </a:prstGeom>
          <a:solidFill>
            <a:srgbClr val="FF7F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56400" y="20828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416800" y="1981200"/>
            <a:ext cx="3759200" cy="4064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项目初心：懂教学的AI伙伴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6654800" y="2667000"/>
            <a:ext cx="4470400" cy="203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我们希望打造一个真正懂老师、能为老师减负的AI教学伙伴。</a:t>
            </a:r>
            <a:endParaRPr lang="en-US" sz="1100"/>
          </a:p>
          <a:p>
            <a:pPr indent="0" algn="l">
              <a:lnSpc>
                <a:spcPct val="117000"/>
              </a:lnSpc>
            </a:pPr>
            <a:r>
              <a:rPr lang="en-US" sz="1600" b="0" i="0" u="none" strike="noStrike">
                <a:solidFill>
                  <a:srgbClr val="555B67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区别于市面上无法理解教学意图的通用工具，我们致力于解决一线教师的真实痛点，让技术回归教育本质，激发教学创造力。</a:t>
            </a:r>
            <a:endParaRPr lang="en-US" sz="1600" b="0" i="0" u="none" strike="noStrike">
              <a:solidFill>
                <a:srgbClr val="555B67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sp>
        <p:nvSpPr>
          <p:cNvPr id="15" name="AutoShape 15"/>
          <p:cNvSpPr/>
          <p:nvPr/>
        </p:nvSpPr>
        <p:spPr>
          <a:xfrm>
            <a:off x="762000" y="5334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52CC">
              <a:alpha val="5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511800"/>
            <a:ext cx="406400" cy="4064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00200" y="5461000"/>
            <a:ext cx="957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共情驱动创新：从“看到问题”到“解决问题”，用技术守护教育者的初心。</a:t>
            </a:r>
            <a:endParaRPr lang="en-US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635000"/>
            <a:ext cx="100584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痛点深挖：我们要破解的3个行业真问题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1968500"/>
            <a:ext cx="635000" cy="635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8890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工具碎片化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952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教师备课需在5-6个软件间反复切换，流程割裂，极大增加了时间成本和操作复杂度。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1651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1968500"/>
            <a:ext cx="635000" cy="635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45720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理解浅层化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35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现有AI仅能执行简单单次指令，无法理解复杂教学逻辑，导致修改课件比自制更费力。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1651000"/>
            <a:ext cx="3302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254000" dist="1270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1651000"/>
            <a:ext cx="3302000" cy="76200"/>
          </a:xfrm>
          <a:prstGeom prst="roundRect">
            <a:avLst>
              <a:gd name="adj" fmla="val 16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1968500"/>
            <a:ext cx="635000" cy="6350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255000" y="27305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价值错位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18500" y="3175000"/>
            <a:ext cx="2921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教师被繁琐事务性劳动束缚，无法聚焦于教学内容创新和学生培养，偏离“设计师”核心价值。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0800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0052CC">
              <a:alpha val="5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1016000" y="5207000"/>
            <a:ext cx="10160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我们的使命：消除冗余，回归教育本质，让技术真正服务于教学创新。</a:t>
            </a:r>
            <a:endParaRPr lang="en-US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762000"/>
            <a:ext cx="110617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项目定位：我们要做的产品，到底是什么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4" name="Picture 4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095500" y="2032000"/>
            <a:ext cx="635000" cy="635000"/>
          </a:xfrm>
          <a:prstGeom prst="rect">
            <a:avLst/>
          </a:prstGeom>
        </p:spPr>
      </p:pic>
      <p:sp>
        <p:nvSpPr>
          <p:cNvPr id="5" name="AutoShape 5"/>
          <p:cNvSpPr/>
          <p:nvPr/>
        </p:nvSpPr>
        <p:spPr>
          <a:xfrm>
            <a:off x="889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一句话核心定位</a:t>
            </a:r>
            <a:endParaRPr lang="en-US" sz="1100"/>
          </a:p>
        </p:txBody>
      </p:sp>
      <p:sp>
        <p:nvSpPr>
          <p:cNvPr id="6" name="AutoShape 6"/>
          <p:cNvSpPr/>
          <p:nvPr/>
        </p:nvSpPr>
        <p:spPr>
          <a:xfrm>
            <a:off x="952500" y="323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打造专为一线高校教师设计的、懂教学的引导式多模态AI教学智能体。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4445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8" name="Picture 8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78500" y="2032000"/>
            <a:ext cx="635000" cy="635000"/>
          </a:xfrm>
          <a:prstGeom prst="rect">
            <a:avLst/>
          </a:prstGeom>
        </p:spPr>
      </p:pic>
      <p:sp>
        <p:nvSpPr>
          <p:cNvPr id="9" name="AutoShape 9"/>
          <p:cNvSpPr/>
          <p:nvPr/>
        </p:nvSpPr>
        <p:spPr>
          <a:xfrm>
            <a:off x="4572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核心目标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4635500" y="323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以教学思路为核心，实现从“对话共创”到“资料融合”再到“生成优化”和“导出落地”的全流程备课闭环。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8128000" y="1778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61500" y="2032000"/>
            <a:ext cx="635000" cy="6350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8255000" y="2794000"/>
            <a:ext cx="304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与通用工具的区别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8318500" y="3238500"/>
            <a:ext cx="2921000" cy="1143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just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拒绝被动接收指令，主动理解教学意图，提供专业建议，做教师的专属备课伙伴。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52CC">
              <a:alpha val="5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6" name="Picture 1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5207000"/>
            <a:ext cx="508000" cy="508000"/>
          </a:xfrm>
          <a:prstGeom prst="rect">
            <a:avLst/>
          </a:prstGeom>
        </p:spPr>
      </p:pic>
      <p:sp>
        <p:nvSpPr>
          <p:cNvPr id="17" name="AutoShape 17"/>
          <p:cNvSpPr/>
          <p:nvPr/>
        </p:nvSpPr>
        <p:spPr>
          <a:xfrm>
            <a:off x="1651000" y="5143500"/>
            <a:ext cx="9525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总结：</a:t>
            </a:r>
            <a:r>
              <a:rPr lang="en-US" sz="18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我们不是简单的PPT生成器，而是能够主动理解教学意图、提供专业教学设计建议的</a:t>
            </a:r>
            <a:r>
              <a:rPr lang="en-US" sz="1800" b="1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专属备课伙伴</a:t>
            </a:r>
            <a:r>
              <a:rPr lang="en-US" sz="1800" b="0" i="0" u="none" strike="noStrike">
                <a:solidFill>
                  <a:srgbClr val="323232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endParaRPr lang="en-US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70485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核心落地：产品全流程业务闭环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143000"/>
            <a:ext cx="10668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50505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以教师备课真实路径为核心，100%覆盖赛题任务要求，精准解决行业痛点，实现全链路无断点闭环。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1714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762000" y="1714500"/>
            <a:ext cx="76200" cy="762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1905000"/>
            <a:ext cx="381000" cy="3810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524000" y="1778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1: 教学意图解析与大纲生成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RAG检索教学知识库 → LLM生成结构化JSON大纲（目标/重难点/流程/互动）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762000" y="2603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762000" y="2603500"/>
            <a:ext cx="76200" cy="762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016000" y="2794000"/>
            <a:ext cx="381000" cy="3810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1524000" y="2667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2: 多模态资料融合与校准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上传PDF/视频等资料 → 多模态解析提取风格逻辑 → LLM深度融合校准大纲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762000" y="3492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762000" y="3492500"/>
            <a:ext cx="76200" cy="762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683000"/>
            <a:ext cx="381000" cy="3810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1524000" y="3556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3: 配套教案与增值内容生成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扩展Markdown教案（含话术/互动/作业） → 同步生成知识点动画与小游戏方案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381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7" name="AutoShape 17"/>
          <p:cNvSpPr/>
          <p:nvPr/>
        </p:nvSpPr>
        <p:spPr>
          <a:xfrm>
            <a:off x="762000" y="4381500"/>
            <a:ext cx="76200" cy="762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8" name="Picture 18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572000"/>
            <a:ext cx="381000" cy="381000"/>
          </a:xfrm>
          <a:prstGeom prst="rect">
            <a:avLst/>
          </a:prstGeom>
        </p:spPr>
      </p:pic>
      <p:sp>
        <p:nvSpPr>
          <p:cNvPr id="19" name="AutoShape 19"/>
          <p:cNvSpPr/>
          <p:nvPr/>
        </p:nvSpPr>
        <p:spPr>
          <a:xfrm>
            <a:off x="1524000" y="4445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4: 多模态课件生成与导出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原生生成OOXML标准PPTX → 同步生成DOCX教案及MP4动画 → 兼容锐捷云课堂</a:t>
            </a:r>
            <a:endParaRPr lang="en-US" sz="1100"/>
          </a:p>
        </p:txBody>
      </p:sp>
      <p:sp>
        <p:nvSpPr>
          <p:cNvPr id="20" name="AutoShape 20"/>
          <p:cNvSpPr/>
          <p:nvPr/>
        </p:nvSpPr>
        <p:spPr>
          <a:xfrm>
            <a:off x="762000" y="52705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21" name="AutoShape 21"/>
          <p:cNvSpPr/>
          <p:nvPr/>
        </p:nvSpPr>
        <p:spPr>
          <a:xfrm>
            <a:off x="762000" y="5270500"/>
            <a:ext cx="76200" cy="7620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2" name="Picture 22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461000"/>
            <a:ext cx="381000" cy="381000"/>
          </a:xfrm>
          <a:prstGeom prst="rect">
            <a:avLst/>
          </a:prstGeom>
        </p:spPr>
      </p:pic>
      <p:sp>
        <p:nvSpPr>
          <p:cNvPr id="23" name="AutoShape 23"/>
          <p:cNvSpPr/>
          <p:nvPr/>
        </p:nvSpPr>
        <p:spPr>
          <a:xfrm>
            <a:off x="1524000" y="5334000"/>
            <a:ext cx="9652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Step 5: 闭环迭代优化</a:t>
            </a:r>
            <a:r>
              <a:rPr lang="en-US" sz="1400" b="0" i="0" u="none" strike="noStrike">
                <a:solidFill>
                  <a:srgbClr val="646464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自然语言指令修改（如“换案例/简化内容”） → LLM精准定位 → 局部更新与无限轮次迭代</a:t>
            </a:r>
            <a:endParaRPr lang="en-US" sz="1100"/>
          </a:p>
        </p:txBody>
      </p:sp>
      <p:sp>
        <p:nvSpPr>
          <p:cNvPr id="24" name="AutoShape 24"/>
          <p:cNvSpPr/>
          <p:nvPr/>
        </p:nvSpPr>
        <p:spPr>
          <a:xfrm>
            <a:off x="0" y="6731000"/>
            <a:ext cx="12192000" cy="127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实现路径：工程化技术架构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6510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4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采用Go工程化分层设计，模块化拆分、高内聚低耦合，完全贴合赛题全部技术要求，支持全栈私有化部署，可无缝对接锐捷云课堂现有业务体系。</a:t>
            </a:r>
            <a:endParaRPr lang="en-US" sz="1100"/>
          </a:p>
        </p:txBody>
      </p:sp>
      <p:sp>
        <p:nvSpPr>
          <p:cNvPr id="4" name="AutoShape 4"/>
          <p:cNvSpPr/>
          <p:nvPr/>
        </p:nvSpPr>
        <p:spPr>
          <a:xfrm>
            <a:off x="762000" y="22860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413000"/>
            <a:ext cx="381000" cy="3810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495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前端 / Web客户端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对话交互区 · 资料上传区 · 课件预览区 · 导出操作区</a:t>
            </a:r>
            <a:endParaRPr lang="en-US" sz="1100"/>
          </a:p>
        </p:txBody>
      </p:sp>
      <p:pic>
        <p:nvPicPr>
          <p:cNvPr id="7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2946400"/>
            <a:ext cx="304800" cy="304800"/>
          </a:xfrm>
          <a:prstGeom prst="rect">
            <a:avLst/>
          </a:prstGeom>
        </p:spPr>
      </p:pic>
      <p:sp>
        <p:nvSpPr>
          <p:cNvPr id="8" name="AutoShape 8"/>
          <p:cNvSpPr/>
          <p:nvPr/>
        </p:nvSpPr>
        <p:spPr>
          <a:xfrm>
            <a:off x="762000" y="3276600"/>
            <a:ext cx="10668000" cy="762000"/>
          </a:xfrm>
          <a:prstGeom prst="roundRect">
            <a:avLst>
              <a:gd name="adj" fmla="val 16666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9" name="Picture 9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3467100"/>
            <a:ext cx="381000" cy="381000"/>
          </a:xfrm>
          <a:prstGeom prst="rect">
            <a:avLst/>
          </a:prstGeom>
        </p:spPr>
      </p:pic>
      <p:sp>
        <p:nvSpPr>
          <p:cNvPr id="10" name="AutoShape 10"/>
          <p:cNvSpPr/>
          <p:nvPr/>
        </p:nvSpPr>
        <p:spPr>
          <a:xfrm>
            <a:off x="1524000" y="3302000"/>
            <a:ext cx="9652000" cy="711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Controller Layer (lesson_agent.go)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POST: /intent/parse /outline/edit /multimodal/fuse /plan/generate /ppt/generate /ppt/iterate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1" name="Picture 11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4064000"/>
            <a:ext cx="304800" cy="304800"/>
          </a:xfrm>
          <a:prstGeom prst="rect">
            <a:avLst/>
          </a:prstGeom>
        </p:spPr>
      </p:pic>
      <p:sp>
        <p:nvSpPr>
          <p:cNvPr id="12" name="AutoShape 12"/>
          <p:cNvSpPr/>
          <p:nvPr/>
        </p:nvSpPr>
        <p:spPr>
          <a:xfrm>
            <a:off x="762000" y="4394200"/>
            <a:ext cx="10668000" cy="889000"/>
          </a:xfrm>
          <a:prstGeom prst="roundRect">
            <a:avLst>
              <a:gd name="adj" fmla="val 14285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3" name="Picture 13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16000" y="4648200"/>
            <a:ext cx="381000" cy="381000"/>
          </a:xfrm>
          <a:prstGeom prst="rect">
            <a:avLst/>
          </a:prstGeom>
        </p:spPr>
      </p:pic>
      <p:sp>
        <p:nvSpPr>
          <p:cNvPr id="14" name="AutoShape 14"/>
          <p:cNvSpPr/>
          <p:nvPr/>
        </p:nvSpPr>
        <p:spPr>
          <a:xfrm>
            <a:off x="1524000" y="4419600"/>
            <a:ext cx="9652000" cy="8382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Core Services Layer</a:t>
            </a:r>
            <a:endParaRPr lang="en-US" sz="1100"/>
          </a:p>
          <a:p>
            <a:pPr indent="0" algn="l">
              <a:lnSpc>
                <a:spcPct val="125000"/>
              </a:lnSpc>
            </a:pPr>
            <a:r>
              <a:rPr lang="en-US" sz="12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WorkflowMgr(状态机) · IntentService(大纲) · MultimodalService(多模态) · LessonPlanService(教案) · PPTGenService(生成) · IterateService(迭代)</a:t>
            </a:r>
            <a:endParaRPr lang="en-US" sz="1200" b="0" i="0" u="none" strike="noStrike">
              <a:solidFill>
                <a:srgbClr val="666666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05500" y="5308600"/>
            <a:ext cx="304800" cy="3048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762000" y="5638800"/>
            <a:ext cx="10668000" cy="635000"/>
          </a:xfrm>
          <a:prstGeom prst="roundRect">
            <a:avLst>
              <a:gd name="adj" fmla="val 20000"/>
            </a:avLst>
          </a:prstGeom>
          <a:solidFill>
            <a:srgbClr val="FFFFFF">
              <a:alpha val="100000"/>
            </a:srgbClr>
          </a:solidFill>
          <a:ln w="12700" cap="flat" cmpd="sng">
            <a:solidFill>
              <a:srgbClr val="DCE0E6">
                <a:alpha val="100000"/>
              </a:srgbClr>
            </a:solidFill>
            <a:prstDash val="solid"/>
            <a:round/>
          </a:ln>
          <a:effectLst>
            <a:outerShdw blurRad="101600" dist="50800" dir="5400000" algn="tl" rotWithShape="0">
              <a:srgbClr val="000000">
                <a:alpha val="5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016000" y="5765800"/>
            <a:ext cx="381000" cy="381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524000" y="5702300"/>
            <a:ext cx="9652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Infrastructure &amp; Tools</a:t>
            </a: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| MySQL(GORM) · LLM Client(DeepSeek/Qwen) · RAG(Milvus) · OCR/Whisper · OOXML Engine</a:t>
            </a:r>
            <a:endParaRPr lang="en-US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90551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国奖核心壁垒：四大创新突破（上）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206500"/>
            <a:ext cx="762000" cy="50800"/>
          </a:xfrm>
          <a:prstGeom prst="roundRect">
            <a:avLst>
              <a:gd name="adj" fmla="val 0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651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66800" y="1955800"/>
            <a:ext cx="609600" cy="6096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68400" y="2057400"/>
            <a:ext cx="406400" cy="4064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8288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模式创新：智能伙伴转型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828800" y="2286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从“被动工具”到“主动引导”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1066800" y="2730500"/>
            <a:ext cx="4597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跳出“老师提一句、AI生成一版”的被动逻辑，内置BOPPPS、PBL等专业教学设计框架，在业务流程第一步实现主动引导式的教学意图解析，真正成为懂教学的伙伴。</a:t>
            </a:r>
            <a:endParaRPr lang="en-US" sz="1100"/>
          </a:p>
        </p:txBody>
      </p:sp>
      <p:sp>
        <p:nvSpPr>
          <p:cNvPr id="10" name="AutoShape 10"/>
          <p:cNvSpPr/>
          <p:nvPr/>
        </p:nvSpPr>
        <p:spPr>
          <a:xfrm>
            <a:off x="6223000" y="1651000"/>
            <a:ext cx="5207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1" name="AutoShape 11"/>
          <p:cNvSpPr/>
          <p:nvPr/>
        </p:nvSpPr>
        <p:spPr>
          <a:xfrm>
            <a:off x="6527800" y="1955800"/>
            <a:ext cx="609600" cy="6096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2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629400" y="2057400"/>
            <a:ext cx="406400" cy="406400"/>
          </a:xfrm>
          <a:prstGeom prst="rect">
            <a:avLst/>
          </a:prstGeom>
        </p:spPr>
      </p:pic>
      <p:sp>
        <p:nvSpPr>
          <p:cNvPr id="13" name="AutoShape 13"/>
          <p:cNvSpPr/>
          <p:nvPr/>
        </p:nvSpPr>
        <p:spPr>
          <a:xfrm>
            <a:off x="7289800" y="19050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技术创新：工程化AI体系</a:t>
            </a:r>
            <a:endParaRPr lang="en-US" sz="1100"/>
          </a:p>
        </p:txBody>
      </p:sp>
      <p:sp>
        <p:nvSpPr>
          <p:cNvPr id="14" name="AutoShape 14"/>
          <p:cNvSpPr/>
          <p:nvPr/>
        </p:nvSpPr>
        <p:spPr>
          <a:xfrm>
            <a:off x="7289800" y="22860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600" b="1" i="0" u="none" strike="noStrike">
                <a:solidFill>
                  <a:srgbClr val="FF7F00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拒绝开源API堆砌，构建核心壁垒</a:t>
            </a:r>
            <a:endParaRPr lang="en-US" sz="1100"/>
          </a:p>
        </p:txBody>
      </p:sp>
      <p:sp>
        <p:nvSpPr>
          <p:cNvPr id="15" name="AutoShape 15"/>
          <p:cNvSpPr/>
          <p:nvPr/>
        </p:nvSpPr>
        <p:spPr>
          <a:xfrm>
            <a:off x="6527800" y="2730500"/>
            <a:ext cx="45974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打造全链路模块化架构，拥有教学指令专属对齐的意图理解引擎、跨模态资料深度语义融合能力及分学科结构化教学RAG知识库，区别于普通拼接方案。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62000" y="4953000"/>
            <a:ext cx="10668000" cy="1143000"/>
          </a:xfrm>
          <a:prstGeom prst="roundRect">
            <a:avLst>
              <a:gd name="adj" fmla="val 11111"/>
            </a:avLst>
          </a:prstGeom>
          <a:solidFill>
            <a:srgbClr val="0052CC">
              <a:alpha val="5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7" name="Picture 17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66800" y="5270500"/>
            <a:ext cx="508000" cy="508000"/>
          </a:xfrm>
          <a:prstGeom prst="rect">
            <a:avLst/>
          </a:prstGeom>
        </p:spPr>
      </p:pic>
      <p:sp>
        <p:nvSpPr>
          <p:cNvPr id="18" name="AutoShape 18"/>
          <p:cNvSpPr/>
          <p:nvPr/>
        </p:nvSpPr>
        <p:spPr>
          <a:xfrm>
            <a:off x="1778000" y="5143500"/>
            <a:ext cx="9398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0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核心价值总结：</a:t>
            </a:r>
            <a:endParaRPr lang="en-US" sz="1100"/>
          </a:p>
          <a:p>
            <a:pPr indent="0" algn="l">
              <a:lnSpc>
                <a:spcPct val="100000"/>
              </a:lnSpc>
            </a:pPr>
            <a:r>
              <a:rPr lang="en-US" sz="1600" b="0" i="0" u="none" strike="noStrike">
                <a:solidFill>
                  <a:srgbClr val="55555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通过模式与技术的双重创新，我们不仅解决了当前教学场景的痛点，更构建了难以被复制的竞争壁垒，为项目冲击国奖奠定了坚实基础。</a:t>
            </a:r>
            <a:endParaRPr lang="en-US" sz="1600" b="0" i="0" u="none" strike="noStrike">
              <a:solidFill>
                <a:srgbClr val="55555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508000"/>
            <a:ext cx="10668000" cy="635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国奖核心壁垒：四大创新突破（下）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FF7F00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5" name="AutoShape 5"/>
          <p:cNvSpPr/>
          <p:nvPr/>
        </p:nvSpPr>
        <p:spPr>
          <a:xfrm>
            <a:off x="1016000" y="1854200"/>
            <a:ext cx="609600" cy="609600"/>
          </a:xfrm>
          <a:prstGeom prst="ellipse">
            <a:avLst/>
          </a:prstGeom>
          <a:solidFill>
            <a:srgbClr val="FF7F00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43000" y="1981200"/>
            <a:ext cx="355600" cy="3556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778000" y="1854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体验创新：闭环共创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778000" y="2235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拒绝伪迭代，实现细粒度优化</a:t>
            </a:r>
            <a:endParaRPr lang="en-US" sz="1100"/>
          </a:p>
        </p:txBody>
      </p:sp>
      <p:cxnSp>
        <p:nvCxnSpPr>
          <p:cNvPr id="9" name="Connector 9"/>
          <p:cNvCxnSpPr/>
          <p:nvPr/>
        </p:nvCxnSpPr>
        <p:spPr>
          <a:xfrm rot="-9549">
            <a:off x="1016009" y="266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" name="AutoShape 10"/>
          <p:cNvSpPr/>
          <p:nvPr/>
        </p:nvSpPr>
        <p:spPr>
          <a:xfrm>
            <a:off x="1016000" y="2794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347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在业务流程中设计了细粒度迭代优化环节，支持局部化修改与教学偏好记忆。老师提出修改意见后，系统能精准定位目标内容进行更新，不改动已确认部分，彻底解决“AI生成改不动、越用越累”的行业顽疾。</a:t>
            </a:r>
            <a:endParaRPr lang="en-US" sz="1100"/>
          </a:p>
        </p:txBody>
      </p:sp>
      <p:sp>
        <p:nvSpPr>
          <p:cNvPr id="11" name="AutoShape 11"/>
          <p:cNvSpPr/>
          <p:nvPr/>
        </p:nvSpPr>
        <p:spPr>
          <a:xfrm>
            <a:off x="6350000" y="1524000"/>
            <a:ext cx="5080000" cy="3048000"/>
          </a:xfrm>
          <a:prstGeom prst="roundRect">
            <a:avLst>
              <a:gd name="adj" fmla="val 41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0000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2" name="AutoShape 12"/>
          <p:cNvSpPr/>
          <p:nvPr/>
        </p:nvSpPr>
        <p:spPr>
          <a:xfrm>
            <a:off x="6350000" y="1524000"/>
            <a:ext cx="5080000" cy="76200"/>
          </a:xfrm>
          <a:prstGeom prst="roundRect">
            <a:avLst>
              <a:gd name="adj" fmla="val 166666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3" name="AutoShape 13"/>
          <p:cNvSpPr/>
          <p:nvPr/>
        </p:nvSpPr>
        <p:spPr>
          <a:xfrm>
            <a:off x="6604000" y="1854200"/>
            <a:ext cx="609600" cy="609600"/>
          </a:xfrm>
          <a:prstGeom prst="ellipse">
            <a:avLst/>
          </a:prstGeom>
          <a:solidFill>
            <a:srgbClr val="0052CC">
              <a:alpha val="1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4" name="Picture 14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731000" y="1981200"/>
            <a:ext cx="355600" cy="355600"/>
          </a:xfrm>
          <a:prstGeom prst="rect">
            <a:avLst/>
          </a:prstGeom>
        </p:spPr>
      </p:pic>
      <p:sp>
        <p:nvSpPr>
          <p:cNvPr id="15" name="AutoShape 15"/>
          <p:cNvSpPr/>
          <p:nvPr/>
        </p:nvSpPr>
        <p:spPr>
          <a:xfrm>
            <a:off x="7366000" y="18542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200" b="1" i="0" u="none" strike="noStrike">
                <a:solidFill>
                  <a:srgbClr val="1F2329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落地创新：架构灵活</a:t>
            </a:r>
            <a:endParaRPr lang="en-US" sz="1100"/>
          </a:p>
        </p:txBody>
      </p:sp>
      <p:sp>
        <p:nvSpPr>
          <p:cNvPr id="16" name="AutoShape 16"/>
          <p:cNvSpPr/>
          <p:nvPr/>
        </p:nvSpPr>
        <p:spPr>
          <a:xfrm>
            <a:off x="7366000" y="2235200"/>
            <a:ext cx="3810000" cy="3048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400" b="0" i="0" u="none" strike="noStrike">
                <a:solidFill>
                  <a:srgbClr val="646A7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模块化设计，全栈私有化部署</a:t>
            </a:r>
            <a:endParaRPr lang="en-US" sz="1100"/>
          </a:p>
        </p:txBody>
      </p:sp>
      <p:cxnSp>
        <p:nvCxnSpPr>
          <p:cNvPr id="17" name="Connector 17"/>
          <p:cNvCxnSpPr/>
          <p:nvPr/>
        </p:nvCxnSpPr>
        <p:spPr>
          <a:xfrm rot="-9549">
            <a:off x="6604009" y="2660650"/>
            <a:ext cx="4572000" cy="12700"/>
          </a:xfrm>
          <a:prstGeom prst="straightConnector1">
            <a:avLst/>
          </a:prstGeom>
          <a:solidFill>
            <a:srgbClr val="DEE0E3">
              <a:alpha val="100000"/>
            </a:srgbClr>
          </a:solidFill>
          <a:ln w="12700" cap="flat" cmpd="sng">
            <a:solidFill>
              <a:srgbClr val="F0F0F0">
                <a:alpha val="100000"/>
              </a:srgbClr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8" name="AutoShape 18"/>
          <p:cNvSpPr/>
          <p:nvPr/>
        </p:nvSpPr>
        <p:spPr>
          <a:xfrm>
            <a:off x="6604000" y="2794000"/>
            <a:ext cx="4572000" cy="152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600" b="0" i="0" u="none" strike="noStrike">
                <a:solidFill>
                  <a:srgbClr val="43474E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采用完全解耦的模块化架构，可无缝嵌入锐捷网络覆盖全国高校的云课堂与智慧校园体系。支持全栈私有化部署，完全符合教育行业对数据安全的严苛要求，精准贴合命题方核心业务诉求。</a:t>
            </a:r>
            <a:endParaRPr lang="en-US" sz="1100"/>
          </a:p>
        </p:txBody>
      </p:sp>
      <p:sp>
        <p:nvSpPr>
          <p:cNvPr id="19" name="AutoShape 19"/>
          <p:cNvSpPr/>
          <p:nvPr/>
        </p:nvSpPr>
        <p:spPr>
          <a:xfrm>
            <a:off x="762000" y="4953000"/>
            <a:ext cx="10668000" cy="1016000"/>
          </a:xfrm>
          <a:prstGeom prst="roundRect">
            <a:avLst>
              <a:gd name="adj" fmla="val 12500"/>
            </a:avLst>
          </a:prstGeom>
          <a:solidFill>
            <a:srgbClr val="0052CC">
              <a:alpha val="5000"/>
            </a:srgbClr>
          </a:solidFill>
          <a:ln w="12700" cap="flat" cmpd="sng">
            <a:solidFill>
              <a:srgbClr val="0052CC">
                <a:alpha val="20000"/>
              </a:srgbClr>
            </a:solidFill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20" name="Picture 20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000" y="5207000"/>
            <a:ext cx="508000" cy="508000"/>
          </a:xfrm>
          <a:prstGeom prst="rect">
            <a:avLst/>
          </a:prstGeom>
        </p:spPr>
      </p:pic>
      <p:sp>
        <p:nvSpPr>
          <p:cNvPr id="21" name="AutoShape 21"/>
          <p:cNvSpPr/>
          <p:nvPr/>
        </p:nvSpPr>
        <p:spPr>
          <a:xfrm>
            <a:off x="1651000" y="5080000"/>
            <a:ext cx="9525000" cy="762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核心价值总结：</a:t>
            </a:r>
            <a:r>
              <a:rPr lang="en-US" sz="1800" b="0" i="0" u="none" strike="noStrike">
                <a:solidFill>
                  <a:srgbClr val="374151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通过闭环共创提升用户体验，通过灵活架构保障落地安全，构建了“好用”且“敢用”的教育AI解决方案。</a:t>
            </a:r>
            <a:endParaRPr lang="en-US" sz="11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762000" y="1016000"/>
            <a:ext cx="7035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3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执行规划：分阶段落地节奏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762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762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5" name="Picture 5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016000" y="2349500"/>
            <a:ext cx="406400" cy="406400"/>
          </a:xfrm>
          <a:prstGeom prst="rect">
            <a:avLst/>
          </a:prstGeom>
        </p:spPr>
      </p:pic>
      <p:sp>
        <p:nvSpPr>
          <p:cNvPr id="6" name="AutoShape 6"/>
          <p:cNvSpPr/>
          <p:nvPr/>
        </p:nvSpPr>
        <p:spPr>
          <a:xfrm>
            <a:off x="1524000" y="2311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第一阶段</a:t>
            </a:r>
            <a:endParaRPr lang="en-US" sz="1100"/>
          </a:p>
        </p:txBody>
      </p:sp>
      <p:sp>
        <p:nvSpPr>
          <p:cNvPr id="7" name="AutoShape 7"/>
          <p:cNvSpPr/>
          <p:nvPr/>
        </p:nvSpPr>
        <p:spPr>
          <a:xfrm>
            <a:off x="1016000" y="3302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完成需求细化与分析，确定核心模型与技术选型，搭建分学科知识库，跑通核心功能最小闭环。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4445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9" name="AutoShape 9"/>
          <p:cNvSpPr/>
          <p:nvPr/>
        </p:nvSpPr>
        <p:spPr>
          <a:xfrm>
            <a:off x="4445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99000" y="2349500"/>
            <a:ext cx="406400" cy="4064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5207000" y="2311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第二阶段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4699000" y="3302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完成全流程业务开发，实现多模态资料解析与标准化导出，对接锐捷云课堂，形成完整产品原型。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8128000" y="2032000"/>
            <a:ext cx="3302000" cy="2794000"/>
          </a:xfrm>
          <a:prstGeom prst="roundRect">
            <a:avLst>
              <a:gd name="adj" fmla="val 4545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8128000" y="2032000"/>
            <a:ext cx="3302000" cy="762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5" name="Picture 15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82000" y="2349500"/>
            <a:ext cx="406400" cy="406400"/>
          </a:xfrm>
          <a:prstGeom prst="rect">
            <a:avLst/>
          </a:prstGeom>
        </p:spPr>
      </p:pic>
      <p:sp>
        <p:nvSpPr>
          <p:cNvPr id="16" name="AutoShape 16"/>
          <p:cNvSpPr/>
          <p:nvPr/>
        </p:nvSpPr>
        <p:spPr>
          <a:xfrm>
            <a:off x="8890000" y="2311400"/>
            <a:ext cx="2286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20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第三阶段</a:t>
            </a:r>
            <a:endParaRPr lang="en-US" sz="1100"/>
          </a:p>
        </p:txBody>
      </p:sp>
      <p:sp>
        <p:nvSpPr>
          <p:cNvPr id="17" name="AutoShape 17"/>
          <p:cNvSpPr/>
          <p:nvPr/>
        </p:nvSpPr>
        <p:spPr>
          <a:xfrm>
            <a:off x="8382000" y="3302000"/>
            <a:ext cx="2794000" cy="1270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08000"/>
              </a:lnSpc>
              <a:defRPr/>
            </a:pPr>
            <a:r>
              <a:rPr lang="en-US" sz="1600" b="0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进行全面的功能测试与用户体验优化，打磨项目演示视频和答辩材料，为参加赛事做好充分准备。</a:t>
            </a:r>
            <a:endParaRPr lang="en-US" sz="1100"/>
          </a:p>
        </p:txBody>
      </p:sp>
      <p:sp>
        <p:nvSpPr>
          <p:cNvPr id="18" name="AutoShape 18"/>
          <p:cNvSpPr/>
          <p:nvPr/>
        </p:nvSpPr>
        <p:spPr>
          <a:xfrm>
            <a:off x="762000" y="5588000"/>
            <a:ext cx="10668000" cy="25400"/>
          </a:xfrm>
          <a:prstGeom prst="roundRect">
            <a:avLst>
              <a:gd name="adj" fmla="val 0"/>
            </a:avLst>
          </a:prstGeom>
          <a:solidFill>
            <a:srgbClr val="0052CC">
              <a:alpha val="2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9" name="AutoShape 19"/>
          <p:cNvSpPr/>
          <p:nvPr/>
        </p:nvSpPr>
        <p:spPr>
          <a:xfrm>
            <a:off x="762000" y="5778500"/>
            <a:ext cx="106680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通过这一个月的分阶段实施，确保项目从</a:t>
            </a: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技术验证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到</a:t>
            </a: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产品落地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再到</a:t>
            </a:r>
            <a:r>
              <a:rPr lang="en-US" sz="16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赛事冲刺</a:t>
            </a:r>
            <a:r>
              <a:rPr lang="en-US" sz="16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的稳步推进。</a:t>
            </a:r>
            <a:endParaRPr lang="en-US" sz="11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8F9FA">
            <a:alpha val="100000"/>
          </a:srgb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AutoShape 2"/>
          <p:cNvSpPr/>
          <p:nvPr/>
        </p:nvSpPr>
        <p:spPr>
          <a:xfrm>
            <a:off x="609600" y="508000"/>
            <a:ext cx="10972800" cy="508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non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32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价值升华与致谢</a:t>
            </a:r>
            <a:endParaRPr lang="en-US" sz="1100"/>
          </a:p>
        </p:txBody>
      </p:sp>
      <p:sp>
        <p:nvSpPr>
          <p:cNvPr id="3" name="AutoShape 3"/>
          <p:cNvSpPr/>
          <p:nvPr/>
        </p:nvSpPr>
        <p:spPr>
          <a:xfrm>
            <a:off x="1016000" y="1397000"/>
            <a:ext cx="10160000" cy="1270000"/>
          </a:xfrm>
          <a:prstGeom prst="roundRect">
            <a:avLst>
              <a:gd name="adj" fmla="val 10000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27000" dist="50800" dir="5400000" algn="tl" rotWithShape="0">
              <a:srgbClr val="0052CC">
                <a:alpha val="10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4" name="AutoShape 4"/>
          <p:cNvSpPr/>
          <p:nvPr/>
        </p:nvSpPr>
        <p:spPr>
          <a:xfrm>
            <a:off x="1270000" y="1587500"/>
            <a:ext cx="9652000" cy="889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2800" b="1" i="0" u="none" strike="noStrike">
                <a:solidFill>
                  <a:srgbClr val="0052CC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“ 用技术给老师减负，让教育回归本心 ”</a:t>
            </a:r>
            <a:endParaRPr lang="en-US" sz="1100"/>
          </a:p>
        </p:txBody>
      </p:sp>
      <p:sp>
        <p:nvSpPr>
          <p:cNvPr id="5" name="AutoShape 5"/>
          <p:cNvSpPr/>
          <p:nvPr/>
        </p:nvSpPr>
        <p:spPr>
          <a:xfrm>
            <a:off x="1016000" y="3048000"/>
            <a:ext cx="4953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6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270000" y="3238500"/>
            <a:ext cx="304800" cy="304800"/>
          </a:xfrm>
          <a:prstGeom prst="rect">
            <a:avLst/>
          </a:prstGeom>
        </p:spPr>
      </p:pic>
      <p:sp>
        <p:nvSpPr>
          <p:cNvPr id="7" name="AutoShape 7"/>
          <p:cNvSpPr/>
          <p:nvPr/>
        </p:nvSpPr>
        <p:spPr>
          <a:xfrm>
            <a:off x="1651000" y="320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项目价值</a:t>
            </a:r>
            <a:endParaRPr lang="en-US" sz="1100"/>
          </a:p>
        </p:txBody>
      </p:sp>
      <p:sp>
        <p:nvSpPr>
          <p:cNvPr id="8" name="AutoShape 8"/>
          <p:cNvSpPr/>
          <p:nvPr/>
        </p:nvSpPr>
        <p:spPr>
          <a:xfrm>
            <a:off x="1270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我们的项目以学生视角回应了教育数字化的时代命题，旨在用青年的创新力量，为一线教师赋能，让技术真正服务于教学的本质。</a:t>
            </a:r>
            <a:endParaRPr lang="en-US" sz="1100"/>
          </a:p>
        </p:txBody>
      </p:sp>
      <p:sp>
        <p:nvSpPr>
          <p:cNvPr id="9" name="AutoShape 9"/>
          <p:cNvSpPr/>
          <p:nvPr/>
        </p:nvSpPr>
        <p:spPr>
          <a:xfrm>
            <a:off x="6223000" y="3048000"/>
            <a:ext cx="4953000" cy="1905000"/>
          </a:xfrm>
          <a:prstGeom prst="roundRect">
            <a:avLst>
              <a:gd name="adj" fmla="val 6666"/>
            </a:avLst>
          </a:prstGeom>
          <a:solidFill>
            <a:srgbClr val="FFFFFF">
              <a:alpha val="100000"/>
            </a:srgbClr>
          </a:solidFill>
          <a:ln w="25400" cap="flat" cmpd="sng">
            <a:noFill/>
            <a:prstDash val="solid"/>
            <a:round/>
          </a:ln>
          <a:effectLst>
            <a:outerShdw blurRad="101600" dist="38100" dir="5400000" algn="tl" rotWithShape="0">
              <a:srgbClr val="0052CC">
                <a:alpha val="8000"/>
              </a:srgbClr>
            </a:outerShdw>
          </a:effectLst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pic>
        <p:nvPicPr>
          <p:cNvPr id="10" name="Picture 1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6477000" y="3238500"/>
            <a:ext cx="304800" cy="304800"/>
          </a:xfrm>
          <a:prstGeom prst="rect">
            <a:avLst/>
          </a:prstGeom>
        </p:spPr>
      </p:pic>
      <p:sp>
        <p:nvSpPr>
          <p:cNvPr id="11" name="AutoShape 11"/>
          <p:cNvSpPr/>
          <p:nvPr/>
        </p:nvSpPr>
        <p:spPr>
          <a:xfrm>
            <a:off x="6858000" y="3200400"/>
            <a:ext cx="3810000" cy="381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l">
              <a:lnSpc>
                <a:spcPct val="125000"/>
              </a:lnSpc>
              <a:defRPr/>
            </a:pPr>
            <a:r>
              <a:rPr lang="en-US" sz="1800" b="1" i="0" u="none" strike="noStrike">
                <a:solidFill>
                  <a:srgbClr val="333333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特别致谢</a:t>
            </a:r>
            <a:endParaRPr lang="en-US" sz="1100"/>
          </a:p>
        </p:txBody>
      </p:sp>
      <p:sp>
        <p:nvSpPr>
          <p:cNvPr id="12" name="AutoShape 12"/>
          <p:cNvSpPr/>
          <p:nvPr/>
        </p:nvSpPr>
        <p:spPr>
          <a:xfrm>
            <a:off x="6477000" y="3683000"/>
            <a:ext cx="4445000" cy="1016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t" anchorCtr="0"/>
          <a:lstStyle/>
          <a:p>
            <a:pPr indent="0" algn="l">
              <a:lnSpc>
                <a:spcPct val="117000"/>
              </a:lnSpc>
              <a:defRPr/>
            </a:pPr>
            <a:r>
              <a:rPr lang="en-US" sz="1400" b="0" i="0" u="none" strike="noStrike">
                <a:solidFill>
                  <a:srgbClr val="666666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衷心感谢指导老师的悉心指导与支持，也感谢锐捷网络提供的宝贵命题机会，让我们有机会将技术理想照进教育现实。</a:t>
            </a:r>
            <a:endParaRPr lang="en-US" sz="1100"/>
          </a:p>
        </p:txBody>
      </p:sp>
      <p:sp>
        <p:nvSpPr>
          <p:cNvPr id="13" name="AutoShape 13"/>
          <p:cNvSpPr/>
          <p:nvPr/>
        </p:nvSpPr>
        <p:spPr>
          <a:xfrm>
            <a:off x="0" y="6604000"/>
            <a:ext cx="12192000" cy="254000"/>
          </a:xfrm>
          <a:prstGeom prst="roundRect">
            <a:avLst>
              <a:gd name="adj" fmla="val 0"/>
            </a:avLst>
          </a:prstGeom>
          <a:solidFill>
            <a:srgbClr val="0052CC">
              <a:alpha val="100000"/>
            </a:srgbClr>
          </a:solidFill>
          <a:ln w="25400" cap="flat" cmpd="sng">
            <a:noFill/>
            <a:prstDash val="solid"/>
            <a:round/>
          </a:ln>
        </p:spPr>
        <p:txBody>
          <a:bodyPr vert="horz" wrap="square" lIns="63500" tIns="63500" rIns="63500" bIns="63500" rtlCol="0" anchor="ctr"/>
          <a:lstStyle/>
          <a:p>
            <a:pPr algn="ctr">
              <a:defRPr/>
            </a:pPr>
          </a:p>
        </p:txBody>
      </p:sp>
      <p:sp>
        <p:nvSpPr>
          <p:cNvPr id="14" name="AutoShape 14"/>
          <p:cNvSpPr/>
          <p:nvPr/>
        </p:nvSpPr>
        <p:spPr>
          <a:xfrm>
            <a:off x="0" y="6604000"/>
            <a:ext cx="12192000" cy="254000"/>
          </a:xfrm>
          <a:prstGeom prst="rect">
            <a:avLst/>
          </a:prstGeom>
          <a:noFill/>
          <a:ln w="12700" cap="flat" cmpd="sng">
            <a:noFill/>
            <a:prstDash val="solid"/>
            <a:round/>
          </a:ln>
        </p:spPr>
        <p:txBody>
          <a:bodyPr vert="horz" wrap="square" lIns="0" tIns="0" rIns="0" bIns="0" rtlCol="0" anchor="ctr" anchorCtr="0"/>
          <a:lstStyle/>
          <a:p>
            <a:pPr indent="0" algn="ctr">
              <a:lnSpc>
                <a:spcPct val="125000"/>
              </a:lnSpc>
              <a:defRPr/>
            </a:pPr>
            <a:r>
              <a:rPr lang="en-US" sz="1000" b="0" i="0" u="none" strike="noStrike">
                <a:solidFill>
                  <a:srgbClr val="FFFFFF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THANKS FOR WATCHING</a:t>
            </a:r>
            <a:endParaRPr lang="en-US" sz="110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2477</Words>
  <Application>WPS 演示</Application>
  <PresentationFormat/>
  <Paragraphs>143</Paragraphs>
  <Slides>10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2</vt:i4>
      </vt:variant>
      <vt:variant>
        <vt:lpstr>幻灯片标题</vt:lpstr>
      </vt:variant>
      <vt:variant>
        <vt:i4>10</vt:i4>
      </vt:variant>
    </vt:vector>
  </HeadingPairs>
  <TitlesOfParts>
    <vt:vector size="19" baseType="lpstr">
      <vt:lpstr>Arial</vt:lpstr>
      <vt:lpstr>宋体</vt:lpstr>
      <vt:lpstr>Wingdings</vt:lpstr>
      <vt:lpstr>Arial</vt:lpstr>
      <vt:lpstr>Noto Sans SC</vt:lpstr>
      <vt:lpstr>微软雅黑</vt:lpstr>
      <vt:lpstr>Arial Unicode MS</vt:lpstr>
      <vt:lpstr>Office 主题​​</vt:lpstr>
      <vt:lpstr>默认主题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Karku</cp:lastModifiedBy>
  <cp:revision>1</cp:revision>
  <dcterms:created xsi:type="dcterms:W3CDTF">2026-03-23T04:21:24Z</dcterms:created>
  <dcterms:modified xsi:type="dcterms:W3CDTF">2026-03-23T04:21:24Z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C9FF3A4EF7DB4565888494D066CF90D0_12</vt:lpwstr>
  </property>
  <property fmtid="{D5CDD505-2E9C-101B-9397-08002B2CF9AE}" pid="3" name="KSOProductBuildVer">
    <vt:lpwstr>2052-12.1.0.25225</vt:lpwstr>
  </property>
</Properties>
</file>